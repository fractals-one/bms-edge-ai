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13ACF4-8A19-7FFF-8D25-5EB5CA988DB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108743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900">
                <a:solidFill>
                  <a:srgbClr val="808080">
                    <a:alpha val="50000"/>
                  </a:srgbClr>
                </a:solidFill>
                <a:latin typeface="Aptos" panose="020B00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AI-Powered Battery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0A4AE"/>
                </a:solidFill>
                <a:latin typeface="Calibri"/>
              </a:defRPr>
            </a:pPr>
            <a:r>
              <a:t>Real-Time State of Charge &amp; State of Health Estimation on STM32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3291840"/>
            <a:ext cx="2103120" cy="36576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5FF"/>
                </a:solidFill>
                <a:latin typeface="Calibri"/>
              </a:defRPr>
            </a:pPr>
            <a:r>
              <a:t>STSW-L9961BMS  |  ST Edge AI  |  Cortex-M0+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297680"/>
            <a:ext cx="2560320" cy="164592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828800" y="4297680"/>
            <a:ext cx="2560320" cy="54864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  <a:latin typeface="Calibri"/>
              </a:defRPr>
            </a:pPr>
            <a:r>
              <a:t>On-Device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937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Calibri"/>
              </a:defRPr>
            </a:pPr>
            <a:r>
              <a:t>Neural network runs</a:t>
            </a:r>
            <a:br/>
            <a:r>
              <a:t>directly on STM32 MCU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297680"/>
            <a:ext cx="2560320" cy="164592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0" y="4297680"/>
            <a:ext cx="2560320" cy="54864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3A9F4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4937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Calibri"/>
              </a:defRPr>
            </a:pPr>
            <a:r>
              <a:t>Inference every 300ms</a:t>
            </a:r>
            <a:br/>
            <a:r>
              <a:t>data acquisition 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297680"/>
            <a:ext cx="2560320" cy="164592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0" y="4297680"/>
            <a:ext cx="2560320" cy="54864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800"/>
                </a:solidFill>
                <a:latin typeface="Calibri"/>
              </a:defRPr>
            </a:pPr>
            <a:r>
              <a:t>Production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937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Calibri"/>
              </a:defRPr>
            </a:pPr>
            <a:r>
              <a:t>Filtered output with</a:t>
            </a:r>
            <a:br/>
            <a:r>
              <a:t>saturation &amp; averaging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A4AE"/>
                </a:solidFill>
                <a:latin typeface="Calibri"/>
              </a:defRPr>
            </a:pPr>
            <a:r>
              <a:t>STMicroelectronics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0A4AE"/>
                </a:solidFill>
                <a:latin typeface="Calibri"/>
              </a:defRPr>
            </a:pPr>
            <a:r>
              <a:t>Slide 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Hardware Platform  —  STEVAL-L99615C Evaluation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A4AE"/>
                </a:solidFill>
                <a:latin typeface="Calibri"/>
              </a:defRPr>
            </a:pPr>
            <a:r>
              <a:t>Industrial BMS evaluation board with L9961 IC and STM32 Nucleo-64 development board</a:t>
            </a:r>
          </a:p>
        </p:txBody>
      </p:sp>
      <p:pic>
        <p:nvPicPr>
          <p:cNvPr id="5" name="Picture 4" descr="board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92696" cy="113950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514202"/>
            <a:ext cx="4389120" cy="42203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20" y="24688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0A4AE"/>
                </a:solidFill>
                <a:latin typeface="Calibri"/>
              </a:defRPr>
            </a:pPr>
            <a:r>
              <a:rPr dirty="0"/>
              <a:t>STEVAL-L99615C + NUCLEO-G071RB  (Block Diagram)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144988"/>
            <a:ext cx="6217920" cy="521208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0" y="1280160"/>
            <a:ext cx="6217920" cy="54864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0" y="141732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3A9F4"/>
                </a:solidFill>
                <a:latin typeface="Calibri"/>
              </a:defRPr>
            </a:pPr>
            <a:r>
              <a:t>STEVAL-L99615C  —  Evaluation 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704362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A4AE"/>
                </a:solidFill>
                <a:latin typeface="Calibri"/>
              </a:defRPr>
            </a:pPr>
            <a:r>
              <a:rPr dirty="0"/>
              <a:t>The STEVAL-L99615C is an evaluation kit composed of an L9961 BMS expansion board</a:t>
            </a:r>
            <a:br>
              <a:rPr dirty="0"/>
            </a:br>
            <a:r>
              <a:rPr dirty="0"/>
              <a:t>stacked on a NUCLEO-G071RB STM32 Nucleo-64 development board via morpho connectors.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468880"/>
            <a:ext cx="5852160" cy="14630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0" y="224028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FD54F"/>
                </a:solidFill>
                <a:latin typeface="Calibri"/>
              </a:defRPr>
            </a:pPr>
            <a:r>
              <a:rPr dirty="0"/>
              <a:t>L9961 BMS IC  —  Key Features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Monitors up to 5 Li-ion cells in series configuration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High-precision ADC for cell voltage, stack voltage, NTC temperature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High-accuracy Current Sense Amplifier (CSA) with Coulomb counter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Passive cell balancing (all cells simultaneously)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Dual pre-driver for charge/discharge MOSFETs</a:t>
            </a:r>
          </a:p>
          <a:p>
            <a:pPr>
              <a:spcAft>
                <a:spcPts val="200"/>
              </a:spcAft>
              <a:defRPr sz="1200" b="0">
                <a:solidFill>
                  <a:srgbClr val="FF9800"/>
                </a:solidFill>
                <a:latin typeface="Calibri"/>
              </a:defRPr>
            </a:pPr>
            <a:r>
              <a:rPr dirty="0"/>
              <a:t>OV/UV, OT/UT, overcurrent &amp; short-circuit protection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I2C interface to host MCU  |  NVM for safety configs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4114800"/>
            <a:ext cx="2743200" cy="11887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0" y="41605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D54F"/>
                </a:solidFill>
                <a:latin typeface="Calibri"/>
              </a:defRPr>
            </a:pPr>
            <a:r>
              <a:t>STM32G071RB MCU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Arm Cortex-M0+ @ 64 MHz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128 KB Flash / 36 KB RAM</a:t>
            </a:r>
          </a:p>
          <a:p>
            <a:pPr>
              <a:spcAft>
                <a:spcPts val="200"/>
              </a:spcAft>
              <a:defRPr sz="1100" b="0">
                <a:solidFill>
                  <a:srgbClr val="00E5FF"/>
                </a:solidFill>
                <a:latin typeface="Calibri"/>
              </a:defRPr>
            </a:pPr>
            <a:r>
              <a:t>NUCLEO-G071RB board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ST-LINK/V2-1 debugger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4114800"/>
            <a:ext cx="3108960" cy="1188720"/>
          </a:xfrm>
          <a:prstGeom prst="round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41605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D54F"/>
                </a:solidFill>
                <a:latin typeface="Calibri"/>
              </a:defRPr>
            </a:pPr>
            <a:r>
              <a:t>Expansion Board Features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5-cell battery pack connector</a:t>
            </a:r>
          </a:p>
          <a:p>
            <a:pPr>
              <a:spcAft>
                <a:spcPts val="200"/>
              </a:spcAft>
              <a:defRPr sz="1100" b="0">
                <a:solidFill>
                  <a:srgbClr val="00E5FF"/>
                </a:solidFill>
                <a:latin typeface="Calibri"/>
              </a:defRPr>
            </a:pPr>
            <a:r>
              <a:t>Embedded battery simulator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Onboard fuse emulator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Charge / Discharge MOSFETs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5486400"/>
            <a:ext cx="5852160" cy="9144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0" y="55321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D54F"/>
                </a:solidFill>
                <a:latin typeface="Calibri"/>
              </a:defRPr>
            </a:pPr>
            <a:r>
              <a:t>STSW-L9961BMS  —  Software Package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4 application demos: Cell Monitoring, Coulomb Counting, Passive Balancing, Kalman SoC/SoH</a:t>
            </a:r>
          </a:p>
          <a:p>
            <a:pPr>
              <a:spcAft>
                <a:spcPts val="200"/>
              </a:spcAft>
              <a:defRPr sz="1200" b="1">
                <a:solidFill>
                  <a:srgbClr val="4CAF50"/>
                </a:solidFill>
                <a:latin typeface="Calibri"/>
              </a:defRPr>
            </a:pPr>
            <a:r>
              <a:t>+ NEW AI Demo (this project):  Neural network based SoC/SoH estimation</a:t>
            </a:r>
          </a:p>
          <a:p>
            <a:pPr>
              <a:spcAft>
                <a:spcPts val="20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STM32Cube HAL + L9961 firmware driver  |  UART output to Tera 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0A4AE"/>
                </a:solidFill>
                <a:latin typeface="Calibri"/>
              </a:defRPr>
            </a:pPr>
            <a:r>
              <a:t>  STSW-L9961BMS AI Demo  |  Slide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 Model Training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A4AE"/>
                </a:solidFill>
                <a:latin typeface="Calibri"/>
              </a:defRPr>
            </a:pPr>
            <a:r>
              <a:t>From raw battery cycler data to a deployable TFLite model  (Google Colab + PyProBE + TensorFlow)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54864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3A9F4"/>
                </a:solidFill>
                <a:latin typeface="Calibri"/>
              </a:defRPr>
            </a:pPr>
            <a:r>
              <a:t>Stage 1:  Battery Data Processing  (PyProBE)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2377440" cy="384048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1. Load Raw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965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0A4AE"/>
                </a:solidFill>
                <a:latin typeface="Calibri"/>
              </a:defRPr>
            </a:pPr>
            <a:r>
              <a:t>Battery cycler test data (A_Test.csv)</a:t>
            </a:r>
            <a:br/>
            <a:r>
              <a:t>Columns: Time, Step, Current, Voltage,</a:t>
            </a:r>
            <a:br/>
            <a:r>
              <a:t>Capacity, Temperature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2350008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2441448"/>
            <a:ext cx="2377440" cy="384048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2. PyProBE Column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4144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0A4AE"/>
                </a:solidFill>
                <a:latin typeface="Calibri"/>
              </a:defRPr>
            </a:pPr>
            <a:r>
              <a:t>CastAndRenameMap maps cycler columns</a:t>
            </a:r>
            <a:br/>
            <a:r>
              <a:t>to standard PyProBE names (polars)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28800" y="2825496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2916936"/>
            <a:ext cx="2377440" cy="384048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3. Process to Parquet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91693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0A4AE"/>
                </a:solidFill>
                <a:latin typeface="Calibri"/>
              </a:defRPr>
            </a:pPr>
            <a:r>
              <a:t>process_cycler_data() converts CSV</a:t>
            </a:r>
            <a:br/>
            <a:r>
              <a:t>to optimised Parquet format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28800" y="3300984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" y="3392424"/>
            <a:ext cx="2377440" cy="384048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4. Create Cell Object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9242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0A4AE"/>
                </a:solidFill>
                <a:latin typeface="Calibri"/>
              </a:defRPr>
            </a:pPr>
            <a:r>
              <a:t>Cell(NMC622, 20Ah) + import_data()</a:t>
            </a:r>
            <a:br/>
            <a:r>
              <a:t>Segments: charge, discharge, rest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28800" y="3776472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3867912"/>
            <a:ext cx="2377440" cy="38404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4CAF50"/>
                </a:solidFill>
                <a:latin typeface="Calibri"/>
              </a:defRPr>
            </a:pPr>
            <a:r>
              <a:t>5. Compute SOC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8679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0A4AE"/>
                </a:solidFill>
                <a:latin typeface="Calibri"/>
              </a:defRPr>
            </a:pPr>
            <a:r>
              <a:t>proc.set_SOC() — Coulomb counting</a:t>
            </a:r>
            <a:br/>
            <a:r>
              <a:t>based on nominal capacity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28800" y="4251960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" y="4343400"/>
            <a:ext cx="2377440" cy="38404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4CAF50"/>
                </a:solidFill>
                <a:latin typeface="Calibri"/>
              </a:defRPr>
            </a:pPr>
            <a:r>
              <a:t>6. Compute SOH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3434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0A4AE"/>
                </a:solidFill>
                <a:latin typeface="Calibri"/>
              </a:defRPr>
            </a:pPr>
            <a:r>
              <a:t>cycling.summary() — capacity fade</a:t>
            </a:r>
            <a:br/>
            <a:r>
              <a:t>per cycle vs nominal capacity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28800" y="4727448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0080" y="4818888"/>
            <a:ext cx="2377440" cy="384048"/>
          </a:xfrm>
          <a:prstGeom prst="round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4CAF50"/>
                </a:solidFill>
                <a:latin typeface="Calibri"/>
              </a:defRPr>
            </a:pPr>
            <a:r>
              <a:t>7. Export Labelled 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8188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0A4AE"/>
                </a:solidFill>
                <a:latin typeface="Calibri"/>
              </a:defRPr>
            </a:pPr>
            <a:r>
              <a:t>A_Test_processed.csv with columns:</a:t>
            </a:r>
            <a:br/>
            <a:r>
              <a:t>Voltage, Current, Temp, SOC%, SOH%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371600"/>
            <a:ext cx="5577840" cy="502920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17920" y="1371600"/>
            <a:ext cx="5577840" cy="54864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1508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Stage 2:  Neural Network Training  (TensorFlow / Keras)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011680"/>
            <a:ext cx="5212080" cy="9144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2057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D54F"/>
                </a:solidFill>
                <a:latin typeface="Calibri"/>
              </a:defRPr>
            </a:pPr>
            <a:r>
              <a:t>DATASET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Input X:   Voltage [V],  Current [A],  Temperature [C]   (3 features)</a:t>
            </a:r>
          </a:p>
          <a:p>
            <a:pPr>
              <a:spcAft>
                <a:spcPts val="200"/>
              </a:spcAft>
              <a:defRPr sz="1100" b="0">
                <a:solidFill>
                  <a:srgbClr val="4CAF50"/>
                </a:solidFill>
                <a:latin typeface="Calibri"/>
              </a:defRPr>
            </a:pPr>
            <a:r>
              <a:t>Output y:  SOC [%],  SOH [%]   (2 targets)</a:t>
            </a:r>
          </a:p>
          <a:p>
            <a:pPr>
              <a:spcAft>
                <a:spcPts val="20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Split:     80% train  /  20% test   (random_state=42)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108960"/>
            <a:ext cx="5212080" cy="19202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3154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D54F"/>
                </a:solidFill>
                <a:latin typeface="Calibri"/>
              </a:defRPr>
            </a:pPr>
            <a:r>
              <a:t>MODEL ARCHITECTURE  (Sequential)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Input(shape=3)                   — raw V, I, T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Normalization()                  — StandardScaler inside model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Reshape((3,1))                   — sequence format for CNN</a:t>
            </a:r>
          </a:p>
          <a:p>
            <a:pPr>
              <a:spcAft>
                <a:spcPts val="200"/>
              </a:spcAft>
              <a:defRPr sz="1100" b="0">
                <a:solidFill>
                  <a:srgbClr val="00E5FF"/>
                </a:solidFill>
                <a:latin typeface="Calibri"/>
              </a:defRPr>
            </a:pPr>
            <a:r>
              <a:t>Conv1D(32, kernel=2, relu)       — feature extraction</a:t>
            </a:r>
          </a:p>
          <a:p>
            <a:pPr>
              <a:spcAft>
                <a:spcPts val="200"/>
              </a:spcAft>
              <a:defRPr sz="1100" b="0">
                <a:solidFill>
                  <a:srgbClr val="00E5FF"/>
                </a:solidFill>
                <a:latin typeface="Calibri"/>
              </a:defRPr>
            </a:pPr>
            <a:r>
              <a:t>GlobalAveragePooling1D()         — reduce to fixed vector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Dense(64, relu)                  — hidden layer 1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Dense(32, relu)                  — hidden layer 2</a:t>
            </a:r>
          </a:p>
          <a:p>
            <a:pPr>
              <a:spcAft>
                <a:spcPts val="200"/>
              </a:spcAft>
              <a:defRPr sz="1100" b="0">
                <a:solidFill>
                  <a:srgbClr val="4CAF50"/>
                </a:solidFill>
                <a:latin typeface="Calibri"/>
              </a:defRPr>
            </a:pPr>
            <a:r>
              <a:t>Dense(2)                         — output: SoC, SoH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212080"/>
            <a:ext cx="2468880" cy="1005840"/>
          </a:xfrm>
          <a:prstGeom prst="round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5212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D54F"/>
                </a:solidFill>
                <a:latin typeface="Calibri"/>
              </a:defRPr>
            </a:pPr>
            <a:r>
              <a:rPr dirty="0"/>
              <a:t>TRAINING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Optimizer:  Adam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Loss:  MSE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Epochs:  10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Batch:  32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5212080"/>
            <a:ext cx="2468880" cy="100584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35440" y="5257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D54F"/>
                </a:solidFill>
                <a:latin typeface="Calibri"/>
              </a:defRPr>
            </a:pPr>
            <a:r>
              <a:t>OUTPUT</a:t>
            </a:r>
          </a:p>
          <a:p>
            <a:pPr>
              <a:spcAft>
                <a:spcPts val="200"/>
              </a:spcAft>
              <a:defRPr sz="1100" b="1">
                <a:solidFill>
                  <a:srgbClr val="00E5FF"/>
                </a:solidFill>
                <a:latin typeface="Calibri"/>
              </a:defRPr>
            </a:pPr>
            <a:r>
              <a:t>NET_model.tflite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Metrics: MSE, RMSE,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MAE, MAPE, R-squared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0A4AE"/>
                </a:solidFill>
                <a:latin typeface="Calibri"/>
              </a:defRPr>
            </a:pPr>
            <a:r>
              <a:t>  STSW-L9961BMS AI Demo  |  Slide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STM32Cube.AI  -  Model Deployment to Microcontroller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A4AE"/>
                </a:solidFill>
                <a:latin typeface="Calibri"/>
              </a:defRPr>
            </a:pPr>
            <a:r>
              <a:t>Converting TFLite model to optimised C code for STM32 Cortex-M0+</a:t>
            </a:r>
          </a:p>
        </p:txBody>
      </p:sp>
      <p:sp>
        <p:nvSpPr>
          <p:cNvPr id="5" name="Chevron 4"/>
          <p:cNvSpPr/>
          <p:nvPr/>
        </p:nvSpPr>
        <p:spPr>
          <a:xfrm>
            <a:off x="548640" y="1371600"/>
            <a:ext cx="1828800" cy="822960"/>
          </a:xfrm>
          <a:prstGeom prst="chevron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.tflite</a:t>
            </a:r>
            <a:br/>
            <a:r>
              <a:t>Model</a:t>
            </a:r>
          </a:p>
        </p:txBody>
      </p:sp>
      <p:sp>
        <p:nvSpPr>
          <p:cNvPr id="6" name="Chevron 5"/>
          <p:cNvSpPr/>
          <p:nvPr/>
        </p:nvSpPr>
        <p:spPr>
          <a:xfrm>
            <a:off x="2468880" y="1371600"/>
            <a:ext cx="1828800" cy="822960"/>
          </a:xfrm>
          <a:prstGeom prst="chevron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STM32Cube.AI</a:t>
            </a:r>
            <a:br/>
            <a:r>
              <a:t>Analyse</a:t>
            </a:r>
          </a:p>
        </p:txBody>
      </p:sp>
      <p:sp>
        <p:nvSpPr>
          <p:cNvPr id="7" name="Chevron 6"/>
          <p:cNvSpPr/>
          <p:nvPr/>
        </p:nvSpPr>
        <p:spPr>
          <a:xfrm>
            <a:off x="4389120" y="1371600"/>
            <a:ext cx="1828800" cy="822960"/>
          </a:xfrm>
          <a:prstGeom prst="chevron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Quantise &amp;</a:t>
            </a:r>
            <a:br/>
            <a:r>
              <a:t>Optimise</a:t>
            </a:r>
          </a:p>
        </p:txBody>
      </p:sp>
      <p:sp>
        <p:nvSpPr>
          <p:cNvPr id="8" name="Chevron 7"/>
          <p:cNvSpPr/>
          <p:nvPr/>
        </p:nvSpPr>
        <p:spPr>
          <a:xfrm>
            <a:off x="6309360" y="1371600"/>
            <a:ext cx="1828800" cy="822960"/>
          </a:xfrm>
          <a:prstGeom prst="chevron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</a:t>
            </a:r>
            <a:br/>
            <a:r>
              <a:t>C / H Files</a:t>
            </a:r>
          </a:p>
        </p:txBody>
      </p:sp>
      <p:sp>
        <p:nvSpPr>
          <p:cNvPr id="9" name="Chevron 8"/>
          <p:cNvSpPr/>
          <p:nvPr/>
        </p:nvSpPr>
        <p:spPr>
          <a:xfrm>
            <a:off x="8229600" y="1371600"/>
            <a:ext cx="1828800" cy="822960"/>
          </a:xfrm>
          <a:prstGeom prst="chevron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STM32CubeIDE</a:t>
            </a:r>
            <a:br/>
            <a:r>
              <a:t>Build</a:t>
            </a:r>
          </a:p>
        </p:txBody>
      </p:sp>
      <p:sp>
        <p:nvSpPr>
          <p:cNvPr id="10" name="Chevron 9"/>
          <p:cNvSpPr/>
          <p:nvPr/>
        </p:nvSpPr>
        <p:spPr>
          <a:xfrm>
            <a:off x="10149840" y="1371600"/>
            <a:ext cx="1828800" cy="822960"/>
          </a:xfrm>
          <a:prstGeom prst="chevron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Flash to</a:t>
            </a:r>
            <a:br/>
            <a:r>
              <a:t>STM32 MCU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5486400" cy="393192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54864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3A9F4"/>
                </a:solidFill>
                <a:latin typeface="Calibri"/>
              </a:defRPr>
            </a:pPr>
            <a:r>
              <a:t>STM32Cube.AI Tool 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63240"/>
            <a:ext cx="2194560" cy="4572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Import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0632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4AE"/>
                </a:solidFill>
                <a:latin typeface="Calibri"/>
              </a:defRPr>
            </a:pPr>
            <a:r>
              <a:t>Load NET_model.tflite into</a:t>
            </a:r>
            <a:br/>
            <a:r>
              <a:t>STM32Cube.AI (X-CUBE-AI plugin)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37360" y="3520440"/>
            <a:ext cx="0" cy="109728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" y="3630168"/>
            <a:ext cx="2194560" cy="4572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Analyse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63016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4AE"/>
                </a:solidFill>
                <a:latin typeface="Calibri"/>
              </a:defRPr>
            </a:pPr>
            <a:r>
              <a:t>Validate model compatibility with target MCU</a:t>
            </a:r>
            <a:br/>
            <a:r>
              <a:t>Estimate RAM, Flash, MACC requirements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37360" y="4087368"/>
            <a:ext cx="0" cy="109728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4197096"/>
            <a:ext cx="2194560" cy="45720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Validate (Optional)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197096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4AE"/>
                </a:solidFill>
                <a:latin typeface="Calibri"/>
              </a:defRPr>
            </a:pPr>
            <a:r>
              <a:t>Run on-desktop validation with test dataset</a:t>
            </a:r>
            <a:br/>
            <a:r>
              <a:t>Compare model output vs ground truth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37360" y="4654296"/>
            <a:ext cx="0" cy="109728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" y="4764024"/>
            <a:ext cx="2194560" cy="4572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4. Generate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764024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4AE"/>
                </a:solidFill>
                <a:latin typeface="Calibri"/>
              </a:defRPr>
            </a:pPr>
            <a:r>
              <a:t>Produce optimised C source + headers:</a:t>
            </a:r>
            <a:br/>
            <a:r>
              <a:t>  network.c / network.h</a:t>
            </a:r>
            <a:br/>
            <a:r>
              <a:t>  network_data.c / network_data.h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37360" y="5221224"/>
            <a:ext cx="0" cy="109728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0080" y="5330952"/>
            <a:ext cx="2194560" cy="457200"/>
          </a:xfrm>
          <a:prstGeom prst="round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 Integrate in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330952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4AE"/>
                </a:solidFill>
                <a:latin typeface="Calibri"/>
              </a:defRPr>
            </a:pPr>
            <a:r>
              <a:t>Add generated files to STM32CubeIDE project</a:t>
            </a:r>
            <a:br/>
            <a:r>
              <a:t>Link with ST Edge AI runtime library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468880"/>
            <a:ext cx="5577840" cy="393192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17920" y="2468880"/>
            <a:ext cx="5577840" cy="54864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2606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Generated Files &amp; Runtime Integration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063240"/>
            <a:ext cx="5212080" cy="16459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31089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D54F"/>
                </a:solidFill>
                <a:latin typeface="Calibri"/>
              </a:defRPr>
            </a:pPr>
            <a:r>
              <a:t>FILES GENERATED BY STM32Cube.AI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network.c / network.h          Model topology &amp; inference API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network_data.c / .h            Weights, biases (const arrays)</a:t>
            </a:r>
          </a:p>
          <a:p>
            <a:pPr>
              <a:spcAft>
                <a:spcPts val="200"/>
              </a:spcAft>
              <a:defRPr sz="1100" b="0">
                <a:solidFill>
                  <a:srgbClr val="00E5FF"/>
                </a:solidFill>
                <a:latin typeface="Calibri"/>
              </a:defRPr>
            </a:pPr>
            <a:r>
              <a:t>app_x-cube-ai.c / .h           Application wrapper &amp; init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300" b="1">
                <a:solidFill>
                  <a:srgbClr val="FFD54F"/>
                </a:solidFill>
                <a:latin typeface="Calibri"/>
              </a:defRPr>
            </a:pPr>
            <a:r>
              <a:t>RUNTIME LIBRARY (libai)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stai.h                         ST Edge AI runtime API</a:t>
            </a:r>
          </a:p>
          <a:p>
            <a:pPr>
              <a:spcAft>
                <a:spcPts val="200"/>
              </a:spcAft>
              <a:defRPr sz="1100" b="0">
                <a:solidFill>
                  <a:srgbClr val="4CAF50"/>
                </a:solidFill>
                <a:latin typeface="Calibri"/>
              </a:defRPr>
            </a:pPr>
            <a:r>
              <a:t>stai_network_run()             Execute inference</a:t>
            </a:r>
          </a:p>
          <a:p>
            <a:pPr>
              <a:spcAft>
                <a:spcPts val="200"/>
              </a:spcAft>
              <a:defRPr sz="1100" b="0">
                <a:solidFill>
                  <a:srgbClr val="4CAF50"/>
                </a:solidFill>
                <a:latin typeface="Calibri"/>
              </a:defRPr>
            </a:pPr>
            <a:r>
              <a:t>stai_input[] / stai_output[]   Model I/O buffers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892040"/>
            <a:ext cx="5212080" cy="13716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4859042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D54F"/>
                </a:solidFill>
                <a:latin typeface="Calibri"/>
              </a:defRPr>
            </a:pPr>
            <a:r>
              <a:rPr dirty="0"/>
              <a:t>HOW app_bms_demo_ai_v2.c USES THESE FILES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#include "</a:t>
            </a:r>
            <a:r>
              <a:rPr dirty="0" err="1"/>
              <a:t>app_x</a:t>
            </a:r>
            <a:r>
              <a:rPr dirty="0"/>
              <a:t>-cube-</a:t>
            </a:r>
            <a:r>
              <a:rPr dirty="0" err="1"/>
              <a:t>ai.h</a:t>
            </a:r>
            <a:r>
              <a:rPr dirty="0"/>
              <a:t>"    — AI middleware entry points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#include "</a:t>
            </a:r>
            <a:r>
              <a:rPr dirty="0" err="1"/>
              <a:t>network.h</a:t>
            </a:r>
            <a:r>
              <a:rPr dirty="0"/>
              <a:t>"          — Model-specific defines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#include "</a:t>
            </a:r>
            <a:r>
              <a:rPr dirty="0" err="1"/>
              <a:t>stai.h</a:t>
            </a:r>
            <a:r>
              <a:rPr dirty="0"/>
              <a:t>"             — Runtime API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100" b="0">
                <a:solidFill>
                  <a:srgbClr val="00E5FF"/>
                </a:solidFill>
                <a:latin typeface="Calibri"/>
              </a:defRPr>
            </a:pPr>
            <a:r>
              <a:rPr dirty="0" err="1"/>
              <a:t>AI_Init</a:t>
            </a:r>
            <a:r>
              <a:rPr dirty="0"/>
              <a:t>()  calls  STM32CubeAI_Studio_AI_Init()</a:t>
            </a:r>
          </a:p>
          <a:p>
            <a:pPr>
              <a:spcAft>
                <a:spcPts val="200"/>
              </a:spcAft>
              <a:defRPr sz="1100" b="0">
                <a:solidFill>
                  <a:srgbClr val="4CAF50"/>
                </a:solidFill>
                <a:latin typeface="Calibri"/>
              </a:defRPr>
            </a:pPr>
            <a:r>
              <a:rPr dirty="0" err="1"/>
              <a:t>AI_RunInference</a:t>
            </a:r>
            <a:r>
              <a:rPr dirty="0"/>
              <a:t>()  writes </a:t>
            </a:r>
            <a:r>
              <a:rPr dirty="0" err="1"/>
              <a:t>stai_input</a:t>
            </a:r>
            <a:r>
              <a:rPr dirty="0"/>
              <a:t>, calls </a:t>
            </a:r>
            <a:r>
              <a:rPr dirty="0" err="1"/>
              <a:t>aiRun</a:t>
            </a:r>
            <a:r>
              <a:rPr dirty="0"/>
              <a:t>(), reads </a:t>
            </a:r>
            <a:r>
              <a:rPr dirty="0" err="1"/>
              <a:t>stai_output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0A4AE"/>
                </a:solidFill>
                <a:latin typeface="Calibri"/>
              </a:defRPr>
            </a:pPr>
            <a:r>
              <a:t>  STSW-L9961BMS AI Demo  |  Slide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A4AE"/>
                </a:solidFill>
                <a:latin typeface="Calibri"/>
              </a:defRPr>
            </a:pPr>
            <a:r>
              <a:t>End-to-end signal path from battery cells to intelligent SoC/SoH estimation</a:t>
            </a:r>
          </a:p>
        </p:txBody>
      </p:sp>
      <p:sp>
        <p:nvSpPr>
          <p:cNvPr id="5" name="Chevron 4"/>
          <p:cNvSpPr/>
          <p:nvPr/>
        </p:nvSpPr>
        <p:spPr>
          <a:xfrm>
            <a:off x="548640" y="1371600"/>
            <a:ext cx="1600200" cy="822960"/>
          </a:xfrm>
          <a:prstGeom prst="chevron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L9961</a:t>
            </a:r>
            <a:br/>
            <a:r>
              <a:t>BMS IC</a:t>
            </a:r>
          </a:p>
        </p:txBody>
      </p:sp>
      <p:sp>
        <p:nvSpPr>
          <p:cNvPr id="6" name="Chevron 5"/>
          <p:cNvSpPr/>
          <p:nvPr/>
        </p:nvSpPr>
        <p:spPr>
          <a:xfrm>
            <a:off x="2194560" y="1371600"/>
            <a:ext cx="1600200" cy="822960"/>
          </a:xfrm>
          <a:prstGeom prst="chevron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Sensor</a:t>
            </a:r>
            <a:br/>
            <a:r>
              <a:t>Data Read</a:t>
            </a:r>
          </a:p>
        </p:txBody>
      </p:sp>
      <p:sp>
        <p:nvSpPr>
          <p:cNvPr id="7" name="Chevron 6"/>
          <p:cNvSpPr/>
          <p:nvPr/>
        </p:nvSpPr>
        <p:spPr>
          <a:xfrm>
            <a:off x="3840480" y="1371600"/>
            <a:ext cx="1600200" cy="822960"/>
          </a:xfrm>
          <a:prstGeom prst="chevron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  <a:br/>
            <a:r>
              <a:t>Conversion</a:t>
            </a:r>
          </a:p>
        </p:txBody>
      </p:sp>
      <p:sp>
        <p:nvSpPr>
          <p:cNvPr id="8" name="Chevron 7"/>
          <p:cNvSpPr/>
          <p:nvPr/>
        </p:nvSpPr>
        <p:spPr>
          <a:xfrm>
            <a:off x="5486400" y="1371600"/>
            <a:ext cx="1600200" cy="822960"/>
          </a:xfrm>
          <a:prstGeom prst="chevron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AI Neural</a:t>
            </a:r>
            <a:br/>
            <a:r>
              <a:t>Network</a:t>
            </a:r>
          </a:p>
        </p:txBody>
      </p:sp>
      <p:sp>
        <p:nvSpPr>
          <p:cNvPr id="9" name="Chevron 8"/>
          <p:cNvSpPr/>
          <p:nvPr/>
        </p:nvSpPr>
        <p:spPr>
          <a:xfrm>
            <a:off x="7132320" y="1371600"/>
            <a:ext cx="1600200" cy="822960"/>
          </a:xfrm>
          <a:prstGeom prst="chevron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Saturate</a:t>
            </a:r>
            <a:br/>
            <a:r>
              <a:t>[0, 100]</a:t>
            </a:r>
          </a:p>
        </p:txBody>
      </p:sp>
      <p:sp>
        <p:nvSpPr>
          <p:cNvPr id="10" name="Chevron 9"/>
          <p:cNvSpPr/>
          <p:nvPr/>
        </p:nvSpPr>
        <p:spPr>
          <a:xfrm>
            <a:off x="8778240" y="1371600"/>
            <a:ext cx="1600200" cy="822960"/>
          </a:xfrm>
          <a:prstGeom prst="chevron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Moving</a:t>
            </a:r>
            <a:br/>
            <a:r>
              <a:t>Average</a:t>
            </a:r>
          </a:p>
        </p:txBody>
      </p:sp>
      <p:sp>
        <p:nvSpPr>
          <p:cNvPr id="11" name="Chevron 10"/>
          <p:cNvSpPr/>
          <p:nvPr/>
        </p:nvSpPr>
        <p:spPr>
          <a:xfrm>
            <a:off x="10424160" y="1371600"/>
            <a:ext cx="1600200" cy="822960"/>
          </a:xfrm>
          <a:prstGeom prst="chevron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UART</a:t>
            </a:r>
            <a:br/>
            <a:r>
              <a:t>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3474720" cy="384048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2560320"/>
            <a:ext cx="3474720" cy="54864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63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4AE"/>
                </a:solidFill>
                <a:latin typeface="Calibri"/>
              </a:defRPr>
            </a:pPr>
            <a:r>
              <a:t>L9961 BMS IC monitors 5 battery cells</a:t>
            </a:r>
            <a:br/>
            <a:r>
              <a:t>via SPI on STM32 Nucleo 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5x Cell Voltages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7033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Calibri"/>
              </a:defRPr>
            </a:pPr>
            <a:r>
              <a:t>mV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Instantaneous 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97763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Calibri"/>
              </a:defRPr>
            </a:pPr>
            <a:r>
              <a:t>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5195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Die Temperature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25195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Calibri"/>
              </a:defRPr>
            </a:pPr>
            <a:r>
              <a:t>deg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2627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NTC Thermistor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52627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Calibri"/>
              </a:defRPr>
            </a:pPr>
            <a:r>
              <a:t>mV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80059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Battery Sum Voltage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80059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Calibri"/>
              </a:defRPr>
            </a:pPr>
            <a:r>
              <a:t>mV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2560320"/>
            <a:ext cx="3474720" cy="384048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297680" y="2560320"/>
            <a:ext cx="3474720" cy="54864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063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4AE"/>
                </a:solidFill>
                <a:latin typeface="Calibri"/>
              </a:defRPr>
            </a:pPr>
            <a:r>
              <a:t>ST Edge AI middleware deploys a</a:t>
            </a:r>
            <a:br/>
            <a:r>
              <a:t>trained neural network on-device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7033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7033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Calibri"/>
              </a:defRPr>
            </a:pPr>
            <a:r>
              <a:t>ST Edge AI (X-CUBE-AI)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97763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Runtime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97763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Calibri"/>
              </a:defRPr>
            </a:pPr>
            <a:r>
              <a:t>stai_network_run()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25195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Input Shape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25195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Calibri"/>
              </a:defRPr>
            </a:pPr>
            <a:r>
              <a:t>3 x float32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2627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Output Shape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52627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Calibri"/>
              </a:defRPr>
            </a:pPr>
            <a:r>
              <a:t>2 x float32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80059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Inference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480059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Calibri"/>
              </a:defRPr>
            </a:pPr>
            <a:r>
              <a:t>~300ms cycle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2560320"/>
            <a:ext cx="3474720" cy="384048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046720" y="2560320"/>
            <a:ext cx="3474720" cy="54864"/>
          </a:xfrm>
          <a:prstGeom prst="round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8388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064"/>
                </a:solidFill>
                <a:latin typeface="Calibri"/>
              </a:defRPr>
            </a:pPr>
            <a:r>
              <a:t>Post-Processing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80" y="3063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4AE"/>
                </a:solidFill>
                <a:latin typeface="Calibri"/>
              </a:defRPr>
            </a:pPr>
            <a:r>
              <a:t>Raw AI output is sanitised and</a:t>
            </a:r>
            <a:br/>
            <a:r>
              <a:t>smoothed before display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37033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Saturation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37033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Calibri"/>
              </a:defRPr>
            </a:pPr>
            <a:r>
              <a:t>Clamp to [0%, 100%]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397763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Filter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397763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Calibri"/>
              </a:defRPr>
            </a:pPr>
            <a:r>
              <a:t>10-sample Moving Avg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425195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Buffer Type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425195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Calibri"/>
              </a:defRPr>
            </a:pPr>
            <a:r>
              <a:t>Circular (ring)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80" y="452627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Warm-up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52627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Calibri"/>
              </a:defRPr>
            </a:pPr>
            <a:r>
              <a:t>1..10 sample ramp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80" y="480059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480059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Calibri"/>
              </a:defRPr>
            </a:pPr>
            <a:r>
              <a:t>Raw + Averaged values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0A4AE"/>
                </a:solidFill>
                <a:latin typeface="Calibri"/>
              </a:defRPr>
            </a:pPr>
            <a:r>
              <a:t>  STSW-L9961BMS AI Demo  |  Slide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Software Code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A4AE"/>
                </a:solidFill>
                <a:latin typeface="Calibri"/>
              </a:defRPr>
            </a:pPr>
            <a:r>
              <a:t>Initialization sequence and periodic main-loop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484632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474720" cy="54864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3A9F4"/>
                </a:solidFill>
                <a:latin typeface="Calibri"/>
              </a:defRPr>
            </a:pPr>
            <a:r>
              <a:t>Startup  (APP_BMS_Init + Start)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2926080" cy="384048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 ComInit(UART)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350008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2441448"/>
            <a:ext cx="2926080" cy="384048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2. BSP_L9961_Init()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825496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2916936"/>
            <a:ext cx="2926080" cy="38404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CAF50"/>
                </a:solidFill>
                <a:latin typeface="Calibri"/>
              </a:defRPr>
            </a:pPr>
            <a:r>
              <a:t>3. AI_Init()  — NEW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3300984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392424"/>
            <a:ext cx="2926080" cy="384048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4. APP_BMS_Conf()  config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3776472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3867912"/>
            <a:ext cx="2926080" cy="384048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5. Interrupt Init + Fault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4251960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4343400"/>
            <a:ext cx="2926080" cy="384048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6. Draw UI Header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94560" y="4727448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4818888"/>
            <a:ext cx="2926080" cy="384048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7. Enable Output Switch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371600"/>
            <a:ext cx="3657600" cy="484632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97680" y="1371600"/>
            <a:ext cx="3657600" cy="54864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Calibri"/>
              </a:defRPr>
            </a:pPr>
            <a:r>
              <a:t>Main Loop  (APP_BMS_Task)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1965960"/>
            <a:ext cx="3108960" cy="384048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CheckDevice()  — board OK?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26480" y="2350008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72000" y="2441448"/>
            <a:ext cx="3108960" cy="38404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DataRead()  — V, I, T sensors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0" y="2825496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0" y="2916936"/>
            <a:ext cx="3108960" cy="38404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CAF50"/>
                </a:solidFill>
                <a:latin typeface="Calibri"/>
              </a:defRPr>
            </a:pPr>
            <a:r>
              <a:t>AI_RunInference(V,I,T) — NEW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26480" y="3300984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0" y="3392424"/>
            <a:ext cx="3108960" cy="384048"/>
          </a:xfrm>
          <a:prstGeom prst="round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CAF50"/>
                </a:solidFill>
                <a:latin typeface="Calibri"/>
              </a:defRPr>
            </a:pPr>
            <a:r>
              <a:t>AI_UpdateMovingAvg() — NEW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0" y="3776472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0" y="3867912"/>
            <a:ext cx="3108960" cy="384048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Output  (UI / Tab / CSV)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0" y="4251960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0" y="4343400"/>
            <a:ext cx="3108960" cy="384048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ManageFault()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126480" y="4727448"/>
            <a:ext cx="0" cy="91440"/>
          </a:xfrm>
          <a:prstGeom prst="line">
            <a:avLst/>
          </a:prstGeom>
          <a:ln w="3175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572000" y="4818888"/>
            <a:ext cx="3108960" cy="384048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CommandMgr + Button Handler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4315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54F"/>
                </a:solidFill>
                <a:latin typeface="Calibri"/>
              </a:defRPr>
            </a:pPr>
            <a:r>
              <a:t>Repeats every ~300ms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1371600"/>
            <a:ext cx="3474720" cy="484632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321040" y="1371600"/>
            <a:ext cx="3474720" cy="54864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0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Calibri"/>
              </a:defRPr>
            </a:pPr>
            <a:r>
              <a:t>AI Inference Detail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3920" y="2011680"/>
            <a:ext cx="3108960" cy="11887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95360" y="2057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D54F"/>
                </a:solidFill>
                <a:latin typeface="Calibri"/>
              </a:defRPr>
            </a:pPr>
            <a:r>
              <a:t>MODEL INPUT  (3 floats)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[0]  Cell1 Voltage  (V)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[1]  Current  (mA)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[2]  Die Temperature  (C)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058400" y="3246120"/>
            <a:ext cx="0" cy="182880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503920" y="3474720"/>
            <a:ext cx="3108960" cy="5029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stai_network_run()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058400" y="4023360"/>
            <a:ext cx="0" cy="182880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503920" y="4251960"/>
            <a:ext cx="3108960" cy="822960"/>
          </a:xfrm>
          <a:prstGeom prst="round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95360" y="4297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D54F"/>
                </a:solidFill>
                <a:latin typeface="Calibri"/>
              </a:defRPr>
            </a:pPr>
            <a:r>
              <a:t>MODEL OUTPUT  (2 floats)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 b="0">
                <a:solidFill>
                  <a:srgbClr val="4CAF50"/>
                </a:solidFill>
                <a:latin typeface="Calibri"/>
              </a:defRPr>
            </a:pPr>
            <a:r>
              <a:t>[0]  SoC  — State of Charge  (%)</a:t>
            </a:r>
          </a:p>
          <a:p>
            <a:pPr>
              <a:spcAft>
                <a:spcPts val="200"/>
              </a:spcAft>
              <a:defRPr sz="1100" b="0">
                <a:solidFill>
                  <a:srgbClr val="4CAF50"/>
                </a:solidFill>
                <a:latin typeface="Calibri"/>
              </a:defRPr>
            </a:pPr>
            <a:r>
              <a:t>[1]  SoH  — State of Health  (%)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058400" y="5120640"/>
            <a:ext cx="0" cy="182880"/>
          </a:xfrm>
          <a:prstGeom prst="line">
            <a:avLst/>
          </a:prstGeom>
          <a:ln w="381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03920" y="5349240"/>
            <a:ext cx="3108960" cy="73152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95360" y="5291593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D54F"/>
                </a:solidFill>
                <a:latin typeface="Calibri"/>
              </a:defRPr>
            </a:pPr>
            <a:r>
              <a:rPr dirty="0"/>
              <a:t>POST-PROCESSING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1. Saturate to [0, 100]%</a:t>
            </a:r>
          </a:p>
          <a:p>
            <a:pPr>
              <a:spcAft>
                <a:spcPts val="200"/>
              </a:spcAft>
              <a:defRPr sz="1100" b="0">
                <a:solidFill>
                  <a:srgbClr val="00E5FF"/>
                </a:solidFill>
                <a:latin typeface="Calibri"/>
              </a:defRPr>
            </a:pPr>
            <a:r>
              <a:rPr dirty="0"/>
              <a:t>2. Moving Average (10 samples)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3. Display Raw + Avg values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0A4AE"/>
                </a:solidFill>
                <a:latin typeface="Calibri"/>
              </a:defRPr>
            </a:pPr>
            <a:r>
              <a:t>  STSW-L9961BMS AI Demo  |  Slide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Live Terminal Output  —  VT100 UI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A4AE"/>
                </a:solidFill>
                <a:latin typeface="Calibri"/>
              </a:defRPr>
            </a:pPr>
            <a:r>
              <a:t>Real-time display on Tera Term showing sensor data with AI-estimated SoC/SoH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486400" cy="4305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3A9F4"/>
                </a:solidFill>
                <a:latin typeface="Calibri"/>
              </a:defRPr>
            </a:pPr>
            <a:r>
              <a:t>Display Breakdown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109728" cy="320040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A9F4"/>
                </a:solidFill>
                <a:latin typeface="Calibri"/>
              </a:defRPr>
            </a:pPr>
            <a:r>
              <a:t>Header 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737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4AE"/>
                </a:solidFill>
                <a:latin typeface="Calibri"/>
              </a:defRPr>
            </a:pPr>
            <a:r>
              <a:t>Blue background with firmware name,</a:t>
            </a:r>
            <a:br/>
            <a:r>
              <a:t>version, and 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60320"/>
            <a:ext cx="109728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560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System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560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4AE"/>
                </a:solidFill>
                <a:latin typeface="Calibri"/>
              </a:defRPr>
            </a:pPr>
            <a:r>
              <a:t>Mode, read count, tick counter,</a:t>
            </a:r>
            <a:br/>
            <a:r>
              <a:t>output switch (green=ON), fault pin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109728" cy="32004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3383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Calibri"/>
              </a:defRPr>
            </a:pPr>
            <a:r>
              <a:t>Cell Voltages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4AE"/>
                </a:solidFill>
                <a:latin typeface="Calibri"/>
              </a:defRPr>
            </a:pPr>
            <a:r>
              <a:t>5 individual cell voltages in mV (cyan)</a:t>
            </a:r>
            <a:br/>
            <a:r>
              <a:t>plus sum measurement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114800"/>
            <a:ext cx="109728" cy="32004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4114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54F"/>
                </a:solidFill>
                <a:latin typeface="Calibri"/>
              </a:defRPr>
            </a:pPr>
            <a:r>
              <a:t>Current &amp; Temp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114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4AE"/>
                </a:solidFill>
                <a:latin typeface="Calibri"/>
              </a:defRPr>
            </a:pPr>
            <a:r>
              <a:t>Instantaneous current (cyan),</a:t>
            </a:r>
            <a:br/>
            <a:r>
              <a:t>NTC and die temperature (yellow)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846320"/>
            <a:ext cx="109728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4846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Calibri"/>
              </a:defRPr>
            </a:pPr>
            <a:r>
              <a:t>AI Raw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846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4AE"/>
                </a:solidFill>
                <a:latin typeface="Calibri"/>
              </a:defRPr>
            </a:pPr>
            <a:r>
              <a:t>Direct neural network SoC/SoH</a:t>
            </a:r>
            <a:br/>
            <a:r>
              <a:t>predictions in green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440680"/>
            <a:ext cx="109728" cy="32004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5440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Calibri"/>
              </a:defRPr>
            </a:pPr>
            <a:r>
              <a:t>AI Filtered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440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4AE"/>
                </a:solidFill>
                <a:latin typeface="Calibri"/>
              </a:defRPr>
            </a:pPr>
            <a:r>
              <a:t>10-sample moving average of</a:t>
            </a:r>
            <a:br/>
            <a:r>
              <a:t>saturated SoC/SoH in cyan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6035040"/>
            <a:ext cx="109728" cy="320040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6035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A9F4"/>
                </a:solidFill>
                <a:latin typeface="Calibri"/>
              </a:defRPr>
            </a:pPr>
            <a:r>
              <a:t>Footer 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035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4AE"/>
                </a:solidFill>
                <a:latin typeface="Calibri"/>
              </a:defRPr>
            </a:pPr>
            <a:r>
              <a:t>Copyright info on blue background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0A4AE"/>
                </a:solidFill>
                <a:latin typeface="Calibri"/>
              </a:defRPr>
            </a:pPr>
            <a:r>
              <a:t>  STSW-L9961BMS AI Demo  |  Slide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Logging Modes  —  Tab &amp;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A4AE"/>
                </a:solidFill>
                <a:latin typeface="Calibri"/>
              </a:defRPr>
            </a:pPr>
            <a:r>
              <a:t>Two additional output formats for data acquisition, analysis, and export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1733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14800"/>
            <a:ext cx="11430000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A4AE"/>
                </a:solidFill>
                <a:latin typeface="Calibri"/>
              </a:defRPr>
            </a:pPr>
            <a:r>
              <a:t>Tab Mode (U+2):  Colour-coded fixed-width columns for visual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A4AE"/>
                </a:solidFill>
                <a:latin typeface="Calibri"/>
              </a:defRPr>
            </a:pPr>
            <a:r>
              <a:t>CSV Mode (U+3):  Comma-separated output for import into Excel / MATLAB /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0A4AE"/>
                </a:solidFill>
                <a:latin typeface="Calibri"/>
              </a:defRPr>
            </a:pPr>
            <a:r>
              <a:t>  STSW-L9961BMS AI Demo  |  Slide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56032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54864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Calibri"/>
              </a:defRPr>
            </a:pPr>
            <a:r>
              <a:t>What We Delivered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91440" cy="2743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Calibri"/>
              </a:defRPr>
            </a:pPr>
            <a:r>
              <a:t>On-device AI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4AE"/>
                </a:solidFill>
                <a:latin typeface="Calibri"/>
              </a:defRPr>
            </a:pPr>
            <a:r>
              <a:t>SoC and SoH estimated in real-time on Cortex-M0+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91440" cy="27432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Calibri"/>
              </a:defRPr>
            </a:pPr>
            <a:r>
              <a:t>Production-grade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4AE"/>
                </a:solidFill>
                <a:latin typeface="Calibri"/>
              </a:defRPr>
            </a:pPr>
            <a:r>
              <a:t>Saturated [0-100%] and filtered (10-sample moving avg)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31720"/>
            <a:ext cx="91440" cy="274320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A9F4"/>
                </a:solidFill>
                <a:latin typeface="Calibri"/>
              </a:defRPr>
            </a:pPr>
            <a:r>
              <a:t>3 output modes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4AE"/>
                </a:solidFill>
                <a:latin typeface="Calibri"/>
              </a:defRPr>
            </a:pPr>
            <a:r>
              <a:t>VT100 UI, Tab Log, CSV Log — all with AI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51760"/>
            <a:ext cx="91440" cy="274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  <a:latin typeface="Calibri"/>
              </a:defRPr>
            </a:pPr>
            <a:r>
              <a:t>Zero external dependencies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4AE"/>
                </a:solidFill>
                <a:latin typeface="Calibri"/>
              </a:defRPr>
            </a:pPr>
            <a:r>
              <a:t>No cloud, no PC compute — fully embedded solution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71800"/>
            <a:ext cx="9144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Backward compatible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4AE"/>
                </a:solidFill>
                <a:latin typeface="Calibri"/>
              </a:defRPr>
            </a:pPr>
            <a:r>
              <a:t>All Demo1 features retained (fault, pause, commands)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097280"/>
            <a:ext cx="5486400" cy="256032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09360" y="1097280"/>
            <a:ext cx="5486400" cy="54864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1234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3A9F4"/>
                </a:solidFill>
                <a:latin typeface="Calibri"/>
              </a:defRPr>
            </a:pPr>
            <a:r>
              <a:t>Technical Specifications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6916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MCU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16916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5FF"/>
                </a:solidFill>
                <a:latin typeface="Calibri"/>
              </a:defRPr>
            </a:pPr>
            <a:r>
              <a:t>STM32 Cortex-M0+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9476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BMS 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19476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5FF"/>
                </a:solidFill>
                <a:latin typeface="Calibri"/>
              </a:defRPr>
            </a:pPr>
            <a:r>
              <a:t>L9961 — 5-cell 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20370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Framework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20370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5FF"/>
                </a:solidFill>
                <a:latin typeface="Calibri"/>
              </a:defRPr>
            </a:pPr>
            <a:r>
              <a:t>ST Edge AI (X-CUBE-AI)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45973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Model 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45973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5FF"/>
                </a:solidFill>
                <a:latin typeface="Calibri"/>
              </a:defRPr>
            </a:pPr>
            <a:r>
              <a:t>3 floats: Voltage, Current, Temperature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7157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Model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71576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5FF"/>
                </a:solidFill>
                <a:latin typeface="Calibri"/>
              </a:defRPr>
            </a:pPr>
            <a:r>
              <a:t>2 floats: SoC (%), SoH (%)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971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Inference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9718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5FF"/>
                </a:solidFill>
                <a:latin typeface="Calibri"/>
              </a:defRPr>
            </a:pPr>
            <a:r>
              <a:t>Every 300ms data cycle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22783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Filter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2278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5FF"/>
                </a:solidFill>
                <a:latin typeface="Calibri"/>
              </a:defRPr>
            </a:pPr>
            <a:r>
              <a:t>10-sample Simple Moving Average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48386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Saturation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348386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5FF"/>
                </a:solidFill>
                <a:latin typeface="Calibri"/>
              </a:defRPr>
            </a:pPr>
            <a:r>
              <a:t>Clamped to [0%, 100%]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73989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373989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5FF"/>
                </a:solidFill>
                <a:latin typeface="Calibri"/>
              </a:defRPr>
            </a:pPr>
            <a:r>
              <a:t>UART → Tera Term (VT100 / Tab / CSV)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931920"/>
            <a:ext cx="11338560" cy="2286000"/>
          </a:xfrm>
          <a:prstGeom prst="roundRect">
            <a:avLst/>
          </a:prstGeom>
          <a:solidFill>
            <a:srgbClr val="1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57200" y="3931920"/>
            <a:ext cx="11338560" cy="54864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069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Calibri"/>
              </a:defRPr>
            </a:pPr>
            <a:r>
              <a:t>Recommended Next Steps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572000"/>
            <a:ext cx="3291840" cy="1371600"/>
          </a:xfrm>
          <a:prstGeom prst="roundRect">
            <a:avLst/>
          </a:prstGeom>
          <a:solidFill>
            <a:srgbClr val="1A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40080" y="4572000"/>
            <a:ext cx="3291840" cy="457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7240" y="4709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Calibri"/>
              </a:defRPr>
            </a:pPr>
            <a:r>
              <a:t>Multi-Cell Input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074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A4AE"/>
                </a:solidFill>
                <a:latin typeface="Calibri"/>
              </a:defRPr>
            </a:pPr>
            <a:r>
              <a:t>Extend AI input from Cell1 only</a:t>
            </a:r>
            <a:br/>
            <a:r>
              <a:t>to all 5 cell voltages + NTC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0" y="4572000"/>
            <a:ext cx="3291840" cy="1371600"/>
          </a:xfrm>
          <a:prstGeom prst="roundRect">
            <a:avLst/>
          </a:prstGeom>
          <a:solidFill>
            <a:srgbClr val="1A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4206240" y="4572000"/>
            <a:ext cx="3291840" cy="45720"/>
          </a:xfrm>
          <a:prstGeom prst="round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43400" y="4709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3A9F4"/>
                </a:solidFill>
                <a:latin typeface="Calibri"/>
              </a:defRPr>
            </a:pPr>
            <a:r>
              <a:t>On-Board Validation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43400" y="5074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A4AE"/>
                </a:solidFill>
                <a:latin typeface="Calibri"/>
              </a:defRPr>
            </a:pPr>
            <a:r>
              <a:t>Validate AI predictions against</a:t>
            </a:r>
            <a:br/>
            <a:r>
              <a:t>Coulomb-counting SoC on live battery pack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0" y="4572000"/>
            <a:ext cx="3291840" cy="1371600"/>
          </a:xfrm>
          <a:prstGeom prst="roundRect">
            <a:avLst/>
          </a:prstGeom>
          <a:solidFill>
            <a:srgbClr val="1A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772400" y="4572000"/>
            <a:ext cx="3291840" cy="4572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09560" y="4709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5FF"/>
                </a:solidFill>
                <a:latin typeface="Calibri"/>
              </a:defRPr>
            </a:pPr>
            <a:r>
              <a:t>Cloud Logging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5074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A4AE"/>
                </a:solidFill>
                <a:latin typeface="Calibri"/>
              </a:defRPr>
            </a:pPr>
            <a:r>
              <a:t>Stream CSV data to cloud dashboard</a:t>
            </a:r>
            <a:br/>
            <a:r>
              <a:t>for fleet-level battery analytics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0A4AE"/>
                </a:solidFill>
                <a:latin typeface="Calibri"/>
              </a:defRPr>
            </a:pPr>
            <a:r>
              <a:t>  STSW-L9961BMS AI Demo  |  Slide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e1418a7-dde9-4d81-a934-a9c4fa2ff479}" enabled="1" method="Standard" siteId="{7df9352f-c5eb-4007-a723-44c078605c7a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1725</Words>
  <Application>Microsoft Office PowerPoint</Application>
  <PresentationFormat>Widescreen</PresentationFormat>
  <Paragraphs>266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2026-08-11T12:45:33Z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